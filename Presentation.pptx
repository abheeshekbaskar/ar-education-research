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Reliability (α) by Factor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Cronbach's α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Interest</c:v>
                  </c:pt>
                  <c:pt idx="1">
                    <c:v>Presence</c:v>
                  </c:pt>
                  <c:pt idx="2">
                    <c:v>Focus</c:v>
                  </c:pt>
                  <c:pt idx="3">
                    <c:v>Flow</c:v>
                  </c:pt>
                  <c:pt idx="4">
                    <c:v>Emotional Inv.</c:v>
                  </c:pt>
                  <c:pt idx="5">
                    <c:v>Usability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0.89</c:v>
                </c:pt>
                <c:pt idx="1">
                  <c:v>0.87</c:v>
                </c:pt>
                <c:pt idx="2">
                  <c:v>0.8</c:v>
                </c:pt>
                <c:pt idx="3">
                  <c:v>0.79</c:v>
                </c:pt>
                <c:pt idx="4">
                  <c:v>0.78</c:v>
                </c:pt>
                <c:pt idx="5">
                  <c:v>0.69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Reality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Education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Challenges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1148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616 – Emerging Technologies in Information Systems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 State University  |  Dr. Hassan Ahmed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4: Abheeshek Baskar · Lakshya Bharani · Janvi Patel · Snehal Talanki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0" y="457200"/>
            <a:ext cx="2286000" cy="2286000"/>
          </a:xfrm>
          <a:prstGeom prst="ellipse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822960"/>
            <a:ext cx="1554480" cy="155448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Background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67128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2167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9169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Immersion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36667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Hypotheses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417320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21808" y="14173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Collection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167128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2167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Results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916936"/>
            <a:ext cx="384048" cy="38404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21808" y="29169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Augmented Reality?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enhances real-world interactions by overlaying digital information, allowing digital and real-world objects to coexist seamlessly — unlike VR which replaces reality entirely.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0906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Capability Areas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40156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&amp; Science education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training simulations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Architecture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Field trips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15087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1417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620256" y="1371600"/>
            <a:ext cx="18288" cy="1508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202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 digital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 real world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19202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immersive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E8F0FE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 in Education?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438144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abstract concepts tangible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multiple learning styles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Fosters creativity &amp; collaboration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widespread adoption in 2–3 years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Augmented Reality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389888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88136" y="1234440"/>
            <a:ext cx="18288" cy="155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64208"/>
            <a:ext cx="1554480" cy="2560320"/>
          </a:xfrm>
          <a:prstGeom prst="rect">
            <a:avLst/>
          </a:prstGeom>
          <a:solidFill>
            <a:srgbClr val="1122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55648"/>
            <a:ext cx="1371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Sutherland creates the first head-mounted display — 'Sword of Damocles'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389888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16936" y="1234440"/>
            <a:ext cx="18288" cy="155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1664208"/>
            <a:ext cx="1554480" cy="2560320"/>
          </a:xfrm>
          <a:prstGeom prst="rect">
            <a:avLst/>
          </a:prstGeom>
          <a:solidFill>
            <a:srgbClr val="1122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755648"/>
            <a:ext cx="1371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tracking &amp; AR conferencing systems emerge (Kato &amp; Billinghurst, 1999)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1389888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45736" y="1234440"/>
            <a:ext cx="18288" cy="155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664208"/>
            <a:ext cx="1554480" cy="2560320"/>
          </a:xfrm>
          <a:prstGeom prst="rect">
            <a:avLst/>
          </a:prstGeom>
          <a:solidFill>
            <a:srgbClr val="1122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755648"/>
            <a:ext cx="1371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Flash-based AR detection + mobile platforms (iOS &amp; Android) expand reach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1389888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74536" y="1234440"/>
            <a:ext cx="18288" cy="155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664208"/>
            <a:ext cx="1554480" cy="2560320"/>
          </a:xfrm>
          <a:prstGeom prst="rect">
            <a:avLst/>
          </a:prstGeom>
          <a:solidFill>
            <a:srgbClr val="1122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755648"/>
            <a:ext cx="1371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predicted to see widespread use on college campuses within 2–3 years (NMC)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75320" y="1389888"/>
            <a:ext cx="274320" cy="2743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822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03336" y="1234440"/>
            <a:ext cx="18288" cy="1554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0" y="1664208"/>
            <a:ext cx="1554480" cy="2560320"/>
          </a:xfrm>
          <a:prstGeom prst="rect">
            <a:avLst/>
          </a:prstGeom>
          <a:solidFill>
            <a:srgbClr val="1122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1755648"/>
            <a:ext cx="1371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applications span education, medicine, engineering, and e-commerce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Applications in Education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9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&amp; 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labs, 3D molecular models, physics simulations, and virtual experiments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389888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89888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99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&amp; Math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819656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tools let students manipulate 3D shapes; proven effective in Mexican school study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9320" y="1389888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389888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4996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Training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819656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simulations, anatomy overlays, and anesthesia training environments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17520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27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Astronomy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447288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trips replaced with GPS-based AR; immersive planet &amp; terrain exploration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27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447288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visualize building models and interior layouts in real-world scale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3017520"/>
            <a:ext cx="25603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3017520"/>
            <a:ext cx="25603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1272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Textbooks &amp; Gaming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447288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books + educational games for archaeology, history, and language learning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IMMERSION &amp; ENGAGEMENT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Influencing AR Immersion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194560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194560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Investment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219456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514600"/>
            <a:ext cx="2194560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34640" y="25146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Attention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1993392"/>
            <a:ext cx="219456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1993392"/>
            <a:ext cx="219456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9933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1783080"/>
            <a:ext cx="274320" cy="182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2560320" y="2834640"/>
            <a:ext cx="274320" cy="182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5029200" y="1783080"/>
            <a:ext cx="274320" cy="5303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5029200" y="2313432"/>
            <a:ext cx="274320" cy="52120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7223760" y="2313432"/>
            <a:ext cx="274320" cy="1828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65760" y="3657600"/>
            <a:ext cx="841248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0332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explains 71% of variance in university students' flow experiences (Salar et al., 2020)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RESEARCH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Research Hypotheses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4114800" cy="1005840"/>
          </a:xfrm>
          <a:prstGeom prst="rect">
            <a:avLst/>
          </a:prstGeom>
          <a:solidFill>
            <a:srgbClr val="0D24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89888"/>
            <a:ext cx="5669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4B"/>
                </a:solidFill>
              </a:rPr>
              <a:t>H1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1435608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positively affects university students' interest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4114800" cy="1005840"/>
          </a:xfrm>
          <a:prstGeom prst="rect">
            <a:avLst/>
          </a:prstGeom>
          <a:solidFill>
            <a:srgbClr val="0D24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60320"/>
            <a:ext cx="5669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6032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4B"/>
                </a:solidFill>
              </a:rPr>
              <a:t>H2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4128" y="26060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investment positively affects university students' interest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4114800" cy="1005840"/>
          </a:xfrm>
          <a:prstGeom prst="rect">
            <a:avLst/>
          </a:prstGeom>
          <a:solidFill>
            <a:srgbClr val="0D24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30752"/>
            <a:ext cx="5669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73075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4B"/>
                </a:solidFill>
              </a:rPr>
              <a:t>H3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24128" y="377647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of attention &amp; presence influence flow experiences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389888"/>
            <a:ext cx="4114800" cy="1005840"/>
          </a:xfrm>
          <a:prstGeom prst="rect">
            <a:avLst/>
          </a:prstGeom>
          <a:solidFill>
            <a:srgbClr val="0D24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389888"/>
            <a:ext cx="5669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389888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4B"/>
                </a:solidFill>
              </a:rPr>
              <a:t>H4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67528" y="1435608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investment &amp; presence influence focus of attention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2560320"/>
            <a:ext cx="4114800" cy="1005840"/>
          </a:xfrm>
          <a:prstGeom prst="rect">
            <a:avLst/>
          </a:prstGeom>
          <a:solidFill>
            <a:srgbClr val="0D24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560320"/>
            <a:ext cx="5669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56032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4B"/>
                </a:solidFill>
              </a:rPr>
              <a:t>H5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67528" y="26060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emotional investment influence student interest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30752"/>
            <a:ext cx="4114800" cy="1005840"/>
          </a:xfrm>
          <a:prstGeom prst="rect">
            <a:avLst/>
          </a:prstGeom>
          <a:solidFill>
            <a:srgbClr val="0D2466"/>
          </a:solidFill>
          <a:ln w="12700">
            <a:solidFill>
              <a:srgbClr val="1A3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730752"/>
            <a:ext cx="566928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730752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4B"/>
                </a:solidFill>
              </a:rPr>
              <a:t>H6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67528" y="3776472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attitude toward digital learning → behavioral intention to use AR/VR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 &amp; Participants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1920240" cy="1005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389888"/>
            <a:ext cx="192024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148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389888"/>
            <a:ext cx="1920240" cy="10058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3484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1389888"/>
            <a:ext cx="19202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463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19568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3931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542032"/>
            <a:ext cx="393192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24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Tool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2990088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Questionnaire (Georgiou &amp; Kyza, 2017)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7-point Likert scale (1 = Totally Disagree → 7 = Totally Agree)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items across 3 dimensions: Total Immersion, Engrossment, Engagement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sub-factors: Flow, Presence, Emotional Investment, Focus, Usability, Interest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Cronbach's alpha = 0.913 (highly reliable)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2542032"/>
            <a:ext cx="41605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542032"/>
            <a:ext cx="41605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6243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Profile of Participants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2990088"/>
            <a:ext cx="38404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used smartphones daily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used laptops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 connected via Wi-Fi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had never heard of AR before the study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technology use in both daily life and education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45720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988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H1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389888"/>
            <a:ext cx="21488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898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77393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→ Interest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89888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89888"/>
            <a:ext cx="45720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38988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H2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1389888"/>
            <a:ext cx="21488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3898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0" y="177393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Investment → Interest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89888"/>
            <a:ext cx="45720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38988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H3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1389888"/>
            <a:ext cx="21488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38988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177393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+ Presence → Flow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624328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624328"/>
            <a:ext cx="45720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62432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H4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2624328"/>
            <a:ext cx="21488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2624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" y="300837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+ Presence → Attention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624328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624328"/>
            <a:ext cx="45720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62432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H5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03320" y="2624328"/>
            <a:ext cx="21488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624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49040" y="300837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+ Investment → Interest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2624328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624328"/>
            <a:ext cx="457200" cy="105156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624328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H6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37960" y="2624328"/>
            <a:ext cx="21488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2624328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Supported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83680" y="300837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Attitude → AR/VR Intent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858768"/>
            <a:ext cx="8321040" cy="89611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913632"/>
            <a:ext cx="8138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hypotheses supported  ·  Model explains 71% of variance in flow experiences  ·  Cronbach's α = 0.913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AR on Student Learning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389888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389888"/>
            <a:ext cx="3337560" cy="32918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0" y="148132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1938528"/>
            <a:ext cx="30632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boosts engagement, motivation, and creativity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presence directly drive flow experiences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connection amplifies attention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is critical for student interest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smartphone use supports mobile AR rollout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test scores in AR vs web-based learning (Mexican school study)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B"/>
                </a:solidFill>
              </a:rPr>
              <a:t>RECOMMENDATIONS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89888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517904"/>
            <a:ext cx="384048" cy="38404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8408" y="15179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95681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Pre-service science teachers need AR training before entering classrooms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89888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89888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1517904"/>
            <a:ext cx="384048" cy="38404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3048" y="15179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Attention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195681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interfaces should easily capture user attention to generate flow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89888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0488" y="1517904"/>
            <a:ext cx="384048" cy="38404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47688" y="151790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Presence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0488" y="195681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familiar objects &amp; environments to make users feel present in 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2962656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2962656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" y="3090672"/>
            <a:ext cx="384048" cy="38404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8408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Connection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" y="35295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real-life situations and personal experiences in AR content design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962656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962656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3090672"/>
            <a:ext cx="384048" cy="38404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5584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13048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UX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55848" y="35295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uncomplicated design directly increases student interest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2962656"/>
            <a:ext cx="26060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962656"/>
            <a:ext cx="26060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3090672"/>
            <a:ext cx="384048" cy="38404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0488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47688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90488" y="35295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of students use smartphones — develop mobile-compatible AR apps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7432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technology holds significant promise for transforming education — enhancing student engagement, motivation, creativity, and learning outcomes across diverse subjects and contexts.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hypotheses were supported by SEM analysis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of variance in flow experience explained by the model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Usability, presence, and emotional investment are the strongest drivers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needs larger samples and longer-term studies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AR development is essential given 99% smartphone adoption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 ·  IST 616  ·  Cleveland State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Augmented Reality in Education</dc:title>
  <dc:subject>PptxGenJS Presentation</dc:subject>
  <dc:creator>Group 4 - Cleveland State University</dc:creator>
  <cp:lastModifiedBy>Group 4 - Cleveland State University</cp:lastModifiedBy>
  <cp:revision>1</cp:revision>
  <dcterms:created xsi:type="dcterms:W3CDTF">2026-06-03T03:35:37Z</dcterms:created>
  <dcterms:modified xsi:type="dcterms:W3CDTF">2026-06-03T03:35:37Z</dcterms:modified>
</cp:coreProperties>
</file>